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2011680"/>
            <a:ext cx="5943600" cy="5943600"/>
          </a:xfrm>
          <a:prstGeom prst="ellipse">
            <a:avLst/>
          </a:prstGeom>
          <a:solidFill>
            <a:srgbClr val="2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-914400"/>
            <a:ext cx="4114800" cy="4114800"/>
          </a:xfrm>
          <a:prstGeom prst="ellipse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182880"/>
            <a:ext cx="2560320" cy="2560320"/>
          </a:xfrm>
          <a:prstGeom prst="ellipse">
            <a:avLst/>
          </a:prstGeom>
          <a:solidFill>
            <a:srgbClr val="2A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411480"/>
            <a:ext cx="3657600" cy="347472"/>
          </a:xfrm>
          <a:prstGeom prst="rect">
            <a:avLst/>
          </a:prstGeom>
          <a:solidFill>
            <a:srgbClr val="1A2E5A"/>
          </a:solidFill>
          <a:ln w="7620">
            <a:solidFill>
              <a:srgbClr val="D4A8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457200"/>
            <a:ext cx="347472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F5E6C8"/>
                </a:solidFill>
                <a:latin typeface="Trebuchet MS"/>
              </a:rPr>
              <a:t>PCCCS495  ·  Object Oriented Programming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8686800" cy="10515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mbria"/>
              </a:rPr>
              <a:t>Elevator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8686800" cy="10058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5200" b="1" i="0">
                <a:solidFill>
                  <a:srgbClr val="D4A84A"/>
                </a:solidFill>
                <a:latin typeface="Cambria"/>
              </a:rPr>
              <a:t>System Simulation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99232"/>
            <a:ext cx="8686800" cy="4114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50" b="0" i="1">
                <a:solidFill>
                  <a:srgbClr val="8A96AA"/>
                </a:solidFill>
                <a:latin typeface="Trebuchet MS"/>
              </a:rPr>
              <a:t>Using Object-Oriented Programming  ·  State Design Pattern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520440"/>
            <a:ext cx="5303520" cy="36576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703320"/>
            <a:ext cx="5303520" cy="2148840"/>
          </a:xfrm>
          <a:prstGeom prst="rect">
            <a:avLst/>
          </a:prstGeom>
          <a:solidFill>
            <a:srgbClr val="1A2E5A"/>
          </a:solidFill>
          <a:ln w="6350">
            <a:solidFill>
              <a:srgbClr val="22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794760"/>
            <a:ext cx="4937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Trebuchet MS"/>
              </a:rPr>
              <a:t>Silvia Singh  ·  Roll No. 19</a:t>
            </a:r>
          </a:p>
          <a:p>
            <a:pPr>
              <a:spcAft>
                <a:spcPts val="200"/>
              </a:spcAft>
            </a:pPr>
            <a:r>
              <a:rPr sz="400" b="0">
                <a:solidFill>
                  <a:srgbClr val="8A96AA"/>
                </a:solidFill>
                <a:latin typeface="Trebuchet MS"/>
              </a:rPr>
              <a:t/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8A96AA"/>
                </a:solidFill>
                <a:latin typeface="Trebuchet MS"/>
              </a:rPr>
              <a:t>Instructor  :  Dr. Soumadip Biswas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8A96AA"/>
                </a:solidFill>
                <a:latin typeface="Trebuchet MS"/>
              </a:rPr>
              <a:t>Programme  :  B.Tech CSE (IoT) — 4th Sem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8A96AA"/>
                </a:solidFill>
                <a:latin typeface="Trebuchet MS"/>
              </a:rPr>
              <a:t>Submission  :  March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737360"/>
            <a:ext cx="2651760" cy="4160520"/>
          </a:xfrm>
          <a:prstGeom prst="rect">
            <a:avLst/>
          </a:prstGeom>
          <a:solidFill>
            <a:srgbClr val="1A2E5A"/>
          </a:solidFill>
          <a:ln w="7620">
            <a:solidFill>
              <a:srgbClr val="22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46920" y="1920240"/>
            <a:ext cx="1280160" cy="8229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3800" b="0" i="0">
                <a:solidFill>
                  <a:srgbClr val="FFFFFF"/>
                </a:solidFill>
                <a:latin typeface="Trebuchet MS"/>
              </a:rPr>
              <a:t>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834640"/>
            <a:ext cx="1280160" cy="34747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950" b="0" i="0">
                <a:solidFill>
                  <a:srgbClr val="8A96AA"/>
                </a:solidFill>
                <a:latin typeface="Trebuchet MS"/>
              </a:rPr>
              <a:t>Floor 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3136392"/>
            <a:ext cx="1280160" cy="27432"/>
          </a:xfrm>
          <a:prstGeom prst="rect">
            <a:avLst/>
          </a:prstGeom>
          <a:solidFill>
            <a:srgbClr val="2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3246120"/>
            <a:ext cx="1280160" cy="34747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950" b="1" i="0">
                <a:solidFill>
                  <a:srgbClr val="D4A84A"/>
                </a:solidFill>
                <a:latin typeface="Trebuchet MS"/>
              </a:rPr>
              <a:t>Floor  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3547872"/>
            <a:ext cx="1280160" cy="27432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3657600"/>
            <a:ext cx="1280160" cy="34747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950" b="0" i="0">
                <a:solidFill>
                  <a:srgbClr val="8A96AA"/>
                </a:solidFill>
                <a:latin typeface="Trebuchet MS"/>
              </a:rPr>
              <a:t>Floor 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3959352"/>
            <a:ext cx="1280160" cy="27432"/>
          </a:xfrm>
          <a:prstGeom prst="rect">
            <a:avLst/>
          </a:prstGeom>
          <a:solidFill>
            <a:srgbClr val="2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4069080"/>
            <a:ext cx="1280160" cy="34747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950" b="0" i="0">
                <a:solidFill>
                  <a:srgbClr val="8A96AA"/>
                </a:solidFill>
                <a:latin typeface="Trebuchet MS"/>
              </a:rPr>
              <a:t>Floor  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4370832"/>
            <a:ext cx="1280160" cy="27432"/>
          </a:xfrm>
          <a:prstGeom prst="rect">
            <a:avLst/>
          </a:prstGeom>
          <a:solidFill>
            <a:srgbClr val="2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455664"/>
            <a:ext cx="11247120" cy="34747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950" b="0" i="1">
                <a:solidFill>
                  <a:srgbClr val="9AA2B4"/>
                </a:solidFill>
                <a:latin typeface="Trebuchet MS"/>
              </a:rPr>
              <a:t>Institute of Engineering &amp; Management  |  Spring 2026  |  B.Tech CSE (IoT)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685800" cy="7498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D4A84A"/>
                </a:solidFill>
                <a:latin typeface="Cambria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0584"/>
            <a:ext cx="8229600" cy="47548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System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76072"/>
            <a:ext cx="1005840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1">
                <a:solidFill>
                  <a:srgbClr val="F5E6C8"/>
                </a:solidFill>
                <a:latin typeface="Trebuchet MS"/>
              </a:rPr>
              <a:t>Architecture  ·  Key Classes  ·  Package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78992"/>
            <a:ext cx="329184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D4A84A"/>
                </a:solidFill>
                <a:latin typeface="Cambria"/>
              </a:rPr>
              <a:t>Architecture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078992"/>
            <a:ext cx="429768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D4A84A"/>
                </a:solidFill>
                <a:latin typeface="Cambria"/>
              </a:rPr>
              <a:t>Key Classes &amp; Responsibilities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078992"/>
            <a:ext cx="356616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1" i="0">
                <a:solidFill>
                  <a:srgbClr val="D4A84A"/>
                </a:solidFill>
                <a:latin typeface="Cambria"/>
              </a:rPr>
              <a:t>Package 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444752"/>
            <a:ext cx="3246120" cy="914400"/>
          </a:xfrm>
          <a:prstGeom prst="rect">
            <a:avLst/>
          </a:prstGeom>
          <a:solidFill>
            <a:srgbClr val="FFEDD8"/>
          </a:solidFill>
          <a:ln w="7620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444752"/>
            <a:ext cx="54864" cy="914400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517904"/>
            <a:ext cx="2834640" cy="38404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2C354A"/>
                </a:solidFill>
                <a:latin typeface="Trebuchet MS"/>
              </a:rPr>
              <a:t>Main.java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929384"/>
            <a:ext cx="2834640" cy="34747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556080"/>
                </a:solidFill>
                <a:latin typeface="Trebuchet MS"/>
              </a:rPr>
              <a:t>Scanner input loop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37360" y="2359152"/>
            <a:ext cx="54864" cy="256032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27632" y="2414016"/>
            <a:ext cx="292608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D4A84A"/>
                </a:solidFill>
                <a:latin typeface="Trebuchet MS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615184"/>
            <a:ext cx="3246120" cy="914400"/>
          </a:xfrm>
          <a:prstGeom prst="rect">
            <a:avLst/>
          </a:prstGeom>
          <a:solidFill>
            <a:srgbClr val="D8EEFF"/>
          </a:solidFill>
          <a:ln w="7620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615184"/>
            <a:ext cx="54864" cy="914400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688336"/>
            <a:ext cx="2834640" cy="38404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2C354A"/>
                </a:solidFill>
                <a:latin typeface="Trebuchet MS"/>
              </a:rPr>
              <a:t>ElevatorController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3099816"/>
            <a:ext cx="2834640" cy="34747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556080"/>
                </a:solidFill>
                <a:latin typeface="Trebuchet MS"/>
              </a:rPr>
              <a:t>Queue + state routing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3529584"/>
            <a:ext cx="54864" cy="256032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27632" y="3584448"/>
            <a:ext cx="292608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D4A84A"/>
                </a:solidFill>
                <a:latin typeface="Trebuchet MS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85616"/>
            <a:ext cx="3246120" cy="914400"/>
          </a:xfrm>
          <a:prstGeom prst="rect">
            <a:avLst/>
          </a:prstGeom>
          <a:solidFill>
            <a:srgbClr val="D8FFEE"/>
          </a:solidFill>
          <a:ln w="7620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785616"/>
            <a:ext cx="54864" cy="914400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3858768"/>
            <a:ext cx="2834640" cy="38404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2C354A"/>
                </a:solidFill>
                <a:latin typeface="Trebuchet MS"/>
              </a:rPr>
              <a:t>State Interface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4270248"/>
            <a:ext cx="2834640" cy="34747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556080"/>
                </a:solidFill>
                <a:latin typeface="Trebuchet MS"/>
              </a:rPr>
              <a:t>handleRequest() contract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37360" y="4700016"/>
            <a:ext cx="54864" cy="256032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27632" y="4754880"/>
            <a:ext cx="292608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900" b="0" i="0">
                <a:solidFill>
                  <a:srgbClr val="D4A84A"/>
                </a:solidFill>
                <a:latin typeface="Trebuchet MS"/>
              </a:rPr>
              <a:t>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956048"/>
            <a:ext cx="3246120" cy="914400"/>
          </a:xfrm>
          <a:prstGeom prst="rect">
            <a:avLst/>
          </a:prstGeom>
          <a:solidFill>
            <a:srgbClr val="FFEED8"/>
          </a:solidFill>
          <a:ln w="7620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" y="4956048"/>
            <a:ext cx="54864" cy="914400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5029200"/>
            <a:ext cx="2834640" cy="38404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50" b="1" i="0">
                <a:solidFill>
                  <a:srgbClr val="2C354A"/>
                </a:solidFill>
                <a:latin typeface="Trebuchet MS"/>
              </a:rPr>
              <a:t>Elevator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5440680"/>
            <a:ext cx="2834640" cy="34747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556080"/>
                </a:solidFill>
                <a:latin typeface="Trebuchet MS"/>
              </a:rPr>
              <a:t>currentFloor · direction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39" y="1444752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49039" y="1444752"/>
            <a:ext cx="54864" cy="713232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13632" y="1490472"/>
            <a:ext cx="3840480" cy="30175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0F1C3A"/>
                </a:solidFill>
                <a:latin typeface="Trebuchet MS"/>
              </a:rPr>
              <a:t>Elevator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13632" y="1792224"/>
            <a:ext cx="384048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2C354A"/>
                </a:solidFill>
                <a:latin typeface="Trebuchet MS"/>
              </a:rPr>
              <a:t>Stores currentFloor &amp; direction (private fields)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49039" y="2249424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49039" y="2249424"/>
            <a:ext cx="54864" cy="713232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13632" y="2295144"/>
            <a:ext cx="3840480" cy="30175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0F1C3A"/>
                </a:solidFill>
                <a:latin typeface="Trebuchet MS"/>
              </a:rPr>
              <a:t>ElevatorController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13632" y="2596896"/>
            <a:ext cx="384048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2C354A"/>
                </a:solidFill>
                <a:latin typeface="Trebuchet MS"/>
              </a:rPr>
              <a:t>Validates · enqueues · selects State per request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39" y="3054096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49039" y="3054096"/>
            <a:ext cx="54864" cy="713232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13632" y="3099815"/>
            <a:ext cx="3840480" cy="30175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0F1C3A"/>
                </a:solidFill>
                <a:latin typeface="Trebuchet MS"/>
              </a:rPr>
              <a:t>MovingUpState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13632" y="3401568"/>
            <a:ext cx="384048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2C354A"/>
                </a:solidFill>
                <a:latin typeface="Trebuchet MS"/>
              </a:rPr>
              <a:t>Traverses floors upward step-by-step via while loop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49039" y="3858768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749039" y="3858768"/>
            <a:ext cx="54864" cy="713232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13632" y="3904488"/>
            <a:ext cx="3840480" cy="30175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0F1C3A"/>
                </a:solidFill>
                <a:latin typeface="Trebuchet MS"/>
              </a:rPr>
              <a:t>MovingDownState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13632" y="4206240"/>
            <a:ext cx="384048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2C354A"/>
                </a:solidFill>
                <a:latin typeface="Trebuchet MS"/>
              </a:rPr>
              <a:t>Mirrors MovingUpState — decrements to destination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749039" y="4663440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749039" y="4663440"/>
            <a:ext cx="54864" cy="713232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13632" y="4709159"/>
            <a:ext cx="3840480" cy="30175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0F1C3A"/>
                </a:solidFill>
                <a:latin typeface="Trebuchet MS"/>
              </a:rPr>
              <a:t>IdleState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913632" y="5010912"/>
            <a:ext cx="384048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2C354A"/>
                </a:solidFill>
                <a:latin typeface="Trebuchet MS"/>
              </a:rPr>
              <a:t>Handles same-floor request; logs intended transition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749039" y="5468112"/>
            <a:ext cx="420624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749039" y="5468112"/>
            <a:ext cx="54864" cy="713232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13632" y="5513832"/>
            <a:ext cx="3840480" cy="30175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0F1C3A"/>
                </a:solidFill>
                <a:latin typeface="Trebuchet MS"/>
              </a:rPr>
              <a:t>Request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13632" y="5815584"/>
            <a:ext cx="384048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0">
                <a:solidFill>
                  <a:srgbClr val="2C354A"/>
                </a:solidFill>
                <a:latin typeface="Trebuchet MS"/>
              </a:rPr>
              <a:t>Typed floor wrapper — ready for future extension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75320" y="1444752"/>
            <a:ext cx="3639312" cy="5184648"/>
          </a:xfrm>
          <a:prstGeom prst="rect">
            <a:avLst/>
          </a:prstGeom>
          <a:solidFill>
            <a:srgbClr val="0F1C3A"/>
          </a:solidFill>
          <a:ln w="7620">
            <a:solidFill>
              <a:srgbClr val="1A2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58200" y="1600200"/>
            <a:ext cx="3337560" cy="4937760"/>
          </a:xfrm>
          <a:prstGeom prst="rect">
            <a:avLst/>
          </a:prstGeom>
          <a:noFill/>
        </p:spPr>
        <p:txBody>
          <a:bodyPr wrap="none" lIns="25400" tIns="25400">
            <a:spAutoFit/>
          </a:bodyPr>
          <a:lstStyle/>
          <a:p>
            <a:pPr>
              <a:spcAft>
                <a:spcPts val="100"/>
              </a:spcAft>
            </a:pPr>
            <a:r>
              <a:rPr sz="1000" b="1">
                <a:solidFill>
                  <a:srgbClr val="D4A84A"/>
                </a:solidFill>
                <a:latin typeface="Courier New"/>
              </a:rPr>
              <a:t>src / elevator /</a:t>
            </a:r>
          </a:p>
          <a:p>
            <a:pPr>
              <a:spcAft>
                <a:spcPts val="100"/>
              </a:spcAft>
            </a:pPr>
            <a:r>
              <a:rPr sz="400" b="0">
                <a:solidFill>
                  <a:srgbClr val="FFFFFF"/>
                </a:solidFill>
                <a:latin typeface="Courier New"/>
              </a:rPr>
              <a:t/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79C0FF"/>
                </a:solidFill>
                <a:latin typeface="Courier New"/>
              </a:rPr>
              <a:t>  controller /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Courier New"/>
              </a:rPr>
              <a:t>    ElevatorController</a:t>
            </a:r>
          </a:p>
          <a:p>
            <a:pPr>
              <a:spcAft>
                <a:spcPts val="100"/>
              </a:spcAft>
            </a:pPr>
            <a:r>
              <a:rPr sz="400" b="0">
                <a:solidFill>
                  <a:srgbClr val="FFFFFF"/>
                </a:solidFill>
                <a:latin typeface="Courier New"/>
              </a:rPr>
              <a:t/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79C0FF"/>
                </a:solidFill>
                <a:latin typeface="Courier New"/>
              </a:rPr>
              <a:t>  main /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Courier New"/>
              </a:rPr>
              <a:t>    Main</a:t>
            </a:r>
          </a:p>
          <a:p>
            <a:pPr>
              <a:spcAft>
                <a:spcPts val="100"/>
              </a:spcAft>
            </a:pPr>
            <a:r>
              <a:rPr sz="400" b="0">
                <a:solidFill>
                  <a:srgbClr val="FFFFFF"/>
                </a:solidFill>
                <a:latin typeface="Courier New"/>
              </a:rPr>
              <a:t/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79C0FF"/>
                </a:solidFill>
                <a:latin typeface="Courier New"/>
              </a:rPr>
              <a:t>  model /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Courier New"/>
              </a:rPr>
              <a:t>    Elevator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Courier New"/>
              </a:rPr>
              <a:t>    Request</a:t>
            </a:r>
          </a:p>
          <a:p>
            <a:pPr>
              <a:spcAft>
                <a:spcPts val="100"/>
              </a:spcAft>
            </a:pPr>
            <a:r>
              <a:rPr sz="400" b="0">
                <a:solidFill>
                  <a:srgbClr val="FFFFFF"/>
                </a:solidFill>
                <a:latin typeface="Courier New"/>
              </a:rPr>
              <a:t/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79C0FF"/>
                </a:solidFill>
                <a:latin typeface="Courier New"/>
              </a:rPr>
              <a:t>  state /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6EDDAE"/>
                </a:solidFill>
                <a:latin typeface="Courier New"/>
              </a:rPr>
              <a:t>    State (interface)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Courier New"/>
              </a:rPr>
              <a:t>    IdleState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Courier New"/>
              </a:rPr>
              <a:t>    MovingUpState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FFFFFF"/>
                </a:solidFill>
                <a:latin typeface="Courier New"/>
              </a:rPr>
              <a:t>    MovingDownState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685800" cy="7498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D4A84A"/>
                </a:solidFill>
                <a:latin typeface="Cambria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0584"/>
            <a:ext cx="8229600" cy="47548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OOP Concepts Applied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76072"/>
            <a:ext cx="1005840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1">
                <a:solidFill>
                  <a:srgbClr val="F5E6C8"/>
                </a:solidFill>
                <a:latin typeface="Trebuchet MS"/>
              </a:rPr>
              <a:t>Abstraction · Polymorphism · Encapsulation · Exception Handling · Collections · State Pattern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3" y="1033271"/>
            <a:ext cx="3749039" cy="2807208"/>
          </a:xfrm>
          <a:prstGeom prst="rect">
            <a:avLst/>
          </a:prstGeom>
          <a:solidFill>
            <a:srgbClr val="1A2E5A"/>
          </a:solidFill>
          <a:ln w="6350">
            <a:solidFill>
              <a:srgbClr val="22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0603" y="1033271"/>
            <a:ext cx="64008" cy="2807208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0603" y="1033271"/>
            <a:ext cx="3749039" cy="64008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8620" y="1124712"/>
            <a:ext cx="1371600" cy="219456"/>
          </a:xfrm>
          <a:prstGeom prst="rect">
            <a:avLst/>
          </a:prstGeom>
          <a:solidFill>
            <a:srgbClr val="2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1" y="1133856"/>
            <a:ext cx="1316736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1" i="0">
                <a:solidFill>
                  <a:srgbClr val="D4A84A"/>
                </a:solidFill>
                <a:latin typeface="Trebuchet MS"/>
              </a:rPr>
              <a:t>State 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" y="1380743"/>
            <a:ext cx="3547871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Abstraction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" y="1719072"/>
            <a:ext cx="3547871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8A96AA"/>
                </a:solidFill>
                <a:latin typeface="Trebuchet MS"/>
              </a:rPr>
              <a:t>Controller calls handleRequest() with no knowledge of which state is active. New states plug in with zero edits.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" y="2295144"/>
            <a:ext cx="3547871" cy="1453896"/>
          </a:xfrm>
          <a:prstGeom prst="rect">
            <a:avLst/>
          </a:prstGeom>
          <a:solidFill>
            <a:srgbClr val="0A1228"/>
          </a:solidFill>
          <a:ln w="5080">
            <a:solidFill>
              <a:srgbClr val="22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8620" y="2295144"/>
            <a:ext cx="3547871" cy="219456"/>
          </a:xfrm>
          <a:prstGeom prst="rect">
            <a:avLst/>
          </a:prstGeom>
          <a:solidFill>
            <a:srgbClr val="1C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7" y="2313432"/>
            <a:ext cx="7315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0">
                <a:solidFill>
                  <a:srgbClr val="9AA2B4"/>
                </a:solidFill>
                <a:latin typeface="Courier New"/>
              </a:rPr>
              <a:t>Java</a:t>
            </a:r>
          </a:p>
        </p:txBody>
      </p:sp>
      <p:sp>
        <p:nvSpPr>
          <p:cNvPr id="17" name="Oval 16"/>
          <p:cNvSpPr/>
          <p:nvPr/>
        </p:nvSpPr>
        <p:spPr>
          <a:xfrm>
            <a:off x="3461003" y="2345436"/>
            <a:ext cx="100584" cy="100584"/>
          </a:xfrm>
          <a:prstGeom prst="ellipse">
            <a:avLst/>
          </a:prstGeom>
          <a:solidFill>
            <a:srgbClr val="E8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16451" y="2345436"/>
            <a:ext cx="100584" cy="100584"/>
          </a:xfrm>
          <a:prstGeom prst="ellipse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71900" y="2345436"/>
            <a:ext cx="100584" cy="100584"/>
          </a:xfrm>
          <a:prstGeom prst="ellipse">
            <a:avLst/>
          </a:prstGeom>
          <a:solidFill>
            <a:srgbClr val="3AB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7" y="2523744"/>
            <a:ext cx="3383279" cy="34061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C5A5FF"/>
                </a:solidFill>
                <a:latin typeface="Courier New"/>
              </a:rPr>
              <a:t>interface State 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7" y="2827782"/>
            <a:ext cx="3383279" cy="34061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urier New"/>
              </a:rPr>
              <a:t>  void handleRequest(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7" y="3131820"/>
            <a:ext cx="3383279" cy="34061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urier New"/>
              </a:rPr>
              <a:t>    Elevator e, int f);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7" y="3435858"/>
            <a:ext cx="3383279" cy="34061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9AA2B4"/>
                </a:solidFill>
                <a:latin typeface="Courier New"/>
              </a:rPr>
              <a:t>}  // one contract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1033271"/>
            <a:ext cx="3749039" cy="2807208"/>
          </a:xfrm>
          <a:prstGeom prst="rect">
            <a:avLst/>
          </a:prstGeom>
          <a:solidFill>
            <a:srgbClr val="1A2E5A"/>
          </a:solidFill>
          <a:ln w="6350">
            <a:solidFill>
              <a:srgbClr val="22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0" y="1033271"/>
            <a:ext cx="64008" cy="2807208"/>
          </a:xfrm>
          <a:prstGeom prst="rect">
            <a:avLst/>
          </a:prstGeom>
          <a:solidFill>
            <a:srgbClr val="3AB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0" y="1033271"/>
            <a:ext cx="3749039" cy="64008"/>
          </a:xfrm>
          <a:prstGeom prst="rect">
            <a:avLst/>
          </a:prstGeom>
          <a:solidFill>
            <a:srgbClr val="3AB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42816" y="1124712"/>
            <a:ext cx="1371600" cy="219456"/>
          </a:xfrm>
          <a:prstGeom prst="rect">
            <a:avLst/>
          </a:prstGeom>
          <a:solidFill>
            <a:srgbClr val="2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0248" y="1133856"/>
            <a:ext cx="1316736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1" i="0">
                <a:solidFill>
                  <a:srgbClr val="3AB89E"/>
                </a:solidFill>
                <a:latin typeface="Trebuchet MS"/>
              </a:rPr>
              <a:t>Runtime Dispatch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42816" y="1380743"/>
            <a:ext cx="3547871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Polymorphism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42816" y="1719072"/>
            <a:ext cx="3547871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8A96AA"/>
                </a:solidFill>
                <a:latin typeface="Trebuchet MS"/>
              </a:rPr>
              <a:t>One call dispatches to upward, downward, or idle behaviour based on the concrete state assigned at runtime.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42816" y="2295144"/>
            <a:ext cx="3547871" cy="1453896"/>
          </a:xfrm>
          <a:prstGeom prst="rect">
            <a:avLst/>
          </a:prstGeom>
          <a:solidFill>
            <a:srgbClr val="0A1228"/>
          </a:solidFill>
          <a:ln w="5080">
            <a:solidFill>
              <a:srgbClr val="22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42816" y="2295144"/>
            <a:ext cx="3547871" cy="219456"/>
          </a:xfrm>
          <a:prstGeom prst="rect">
            <a:avLst/>
          </a:prstGeom>
          <a:solidFill>
            <a:srgbClr val="1C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52544" y="2313432"/>
            <a:ext cx="7315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0">
                <a:solidFill>
                  <a:srgbClr val="9AA2B4"/>
                </a:solidFill>
                <a:latin typeface="Courier New"/>
              </a:rPr>
              <a:t>Java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0" y="2345436"/>
            <a:ext cx="100584" cy="100584"/>
          </a:xfrm>
          <a:prstGeom prst="ellipse">
            <a:avLst/>
          </a:prstGeom>
          <a:solidFill>
            <a:srgbClr val="E8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470648" y="2345436"/>
            <a:ext cx="100584" cy="100584"/>
          </a:xfrm>
          <a:prstGeom prst="ellipse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626096" y="2345436"/>
            <a:ext cx="100584" cy="100584"/>
          </a:xfrm>
          <a:prstGeom prst="ellipse">
            <a:avLst/>
          </a:prstGeom>
          <a:solidFill>
            <a:srgbClr val="3AB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52544" y="2523744"/>
            <a:ext cx="3383279" cy="34061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6EDDAE"/>
                </a:solidFill>
                <a:latin typeface="Courier New"/>
              </a:rPr>
              <a:t>state = new MovingUpState();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52544" y="2827782"/>
            <a:ext cx="3383279" cy="34061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9AA2B4"/>
                </a:solidFill>
                <a:latin typeface="Courier New"/>
              </a:rPr>
              <a:t>// or MovingDownState()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52544" y="3131820"/>
            <a:ext cx="3383279" cy="34061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9AA2B4"/>
                </a:solidFill>
                <a:latin typeface="Courier New"/>
              </a:rPr>
              <a:t>// or IdleState()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52544" y="3435858"/>
            <a:ext cx="3383279" cy="34061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F0C674"/>
                </a:solidFill>
                <a:latin typeface="Courier New"/>
              </a:rPr>
              <a:t>state.handleRequest(e, f);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68996" y="1033271"/>
            <a:ext cx="3749039" cy="2807208"/>
          </a:xfrm>
          <a:prstGeom prst="rect">
            <a:avLst/>
          </a:prstGeom>
          <a:solidFill>
            <a:srgbClr val="1A2E5A"/>
          </a:solidFill>
          <a:ln w="6350">
            <a:solidFill>
              <a:srgbClr val="22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68996" y="1033271"/>
            <a:ext cx="64008" cy="2807208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968996" y="1033271"/>
            <a:ext cx="3749039" cy="64008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97012" y="1124712"/>
            <a:ext cx="1371600" cy="219456"/>
          </a:xfrm>
          <a:prstGeom prst="rect">
            <a:avLst/>
          </a:prstGeom>
          <a:solidFill>
            <a:srgbClr val="2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24444" y="1133856"/>
            <a:ext cx="1316736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1" i="0">
                <a:solidFill>
                  <a:srgbClr val="79C0FF"/>
                </a:solidFill>
                <a:latin typeface="Trebuchet MS"/>
              </a:rPr>
              <a:t>Private Fields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97012" y="1380743"/>
            <a:ext cx="3547871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Encapsulation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97012" y="1719072"/>
            <a:ext cx="3547871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8A96AA"/>
                </a:solidFill>
                <a:latin typeface="Trebuchet MS"/>
              </a:rPr>
              <a:t>currentFloor and direction are private. External classes must use getters, keeping the object consistent.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97012" y="2295144"/>
            <a:ext cx="3547871" cy="1453896"/>
          </a:xfrm>
          <a:prstGeom prst="rect">
            <a:avLst/>
          </a:prstGeom>
          <a:solidFill>
            <a:srgbClr val="0A1228"/>
          </a:solidFill>
          <a:ln w="5080">
            <a:solidFill>
              <a:srgbClr val="22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97012" y="2295144"/>
            <a:ext cx="3547871" cy="219456"/>
          </a:xfrm>
          <a:prstGeom prst="rect">
            <a:avLst/>
          </a:prstGeom>
          <a:solidFill>
            <a:srgbClr val="1C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06740" y="2313432"/>
            <a:ext cx="7315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0">
                <a:solidFill>
                  <a:srgbClr val="9AA2B4"/>
                </a:solidFill>
                <a:latin typeface="Courier New"/>
              </a:rPr>
              <a:t>Java</a:t>
            </a:r>
          </a:p>
        </p:txBody>
      </p:sp>
      <p:sp>
        <p:nvSpPr>
          <p:cNvPr id="51" name="Oval 50"/>
          <p:cNvSpPr/>
          <p:nvPr/>
        </p:nvSpPr>
        <p:spPr>
          <a:xfrm>
            <a:off x="11169396" y="2345436"/>
            <a:ext cx="100584" cy="100584"/>
          </a:xfrm>
          <a:prstGeom prst="ellipse">
            <a:avLst/>
          </a:prstGeom>
          <a:solidFill>
            <a:srgbClr val="E8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1324844" y="2345436"/>
            <a:ext cx="100584" cy="100584"/>
          </a:xfrm>
          <a:prstGeom prst="ellipse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480292" y="2345436"/>
            <a:ext cx="100584" cy="100584"/>
          </a:xfrm>
          <a:prstGeom prst="ellipse">
            <a:avLst/>
          </a:prstGeom>
          <a:solidFill>
            <a:srgbClr val="3AB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06740" y="2523744"/>
            <a:ext cx="3383279" cy="34061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79C0FF"/>
                </a:solidFill>
                <a:latin typeface="Courier New"/>
              </a:rPr>
              <a:t>private int currentFloor;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06740" y="2827782"/>
            <a:ext cx="3383279" cy="34061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79C0FF"/>
                </a:solidFill>
                <a:latin typeface="Courier New"/>
              </a:rPr>
              <a:t>private String direction;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06740" y="3131820"/>
            <a:ext cx="3383279" cy="34061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F0C674"/>
                </a:solidFill>
                <a:latin typeface="Courier New"/>
              </a:rPr>
              <a:t>public int getFloor() {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06740" y="3435858"/>
            <a:ext cx="3383279" cy="34061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urier New"/>
              </a:rPr>
              <a:t>  return currentFloor; }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60603" y="3931920"/>
            <a:ext cx="3749039" cy="2807208"/>
          </a:xfrm>
          <a:prstGeom prst="rect">
            <a:avLst/>
          </a:prstGeom>
          <a:solidFill>
            <a:srgbClr val="1A2E5A"/>
          </a:solidFill>
          <a:ln w="6350">
            <a:solidFill>
              <a:srgbClr val="22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60603" y="3931920"/>
            <a:ext cx="64008" cy="2807208"/>
          </a:xfrm>
          <a:prstGeom prst="rect">
            <a:avLst/>
          </a:prstGeom>
          <a:solidFill>
            <a:srgbClr val="E8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60603" y="3931920"/>
            <a:ext cx="3749039" cy="64008"/>
          </a:xfrm>
          <a:prstGeom prst="rect">
            <a:avLst/>
          </a:prstGeom>
          <a:solidFill>
            <a:srgbClr val="E8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88620" y="4023359"/>
            <a:ext cx="1371600" cy="219456"/>
          </a:xfrm>
          <a:prstGeom prst="rect">
            <a:avLst/>
          </a:prstGeom>
          <a:solidFill>
            <a:srgbClr val="2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6051" y="4032504"/>
            <a:ext cx="1316736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1" i="0">
                <a:solidFill>
                  <a:srgbClr val="E86E5A"/>
                </a:solidFill>
                <a:latin typeface="Trebuchet MS"/>
              </a:rPr>
              <a:t>Input Validation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8620" y="4279392"/>
            <a:ext cx="3547871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Exception Handling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8620" y="4617720"/>
            <a:ext cx="3547871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8A96AA"/>
                </a:solidFill>
                <a:latin typeface="Trebuchet MS"/>
              </a:rPr>
              <a:t>Invalid floor inputs are rejected gracefully — one bad request never terminates the processing session.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88620" y="5193792"/>
            <a:ext cx="3547871" cy="1453896"/>
          </a:xfrm>
          <a:prstGeom prst="rect">
            <a:avLst/>
          </a:prstGeom>
          <a:solidFill>
            <a:srgbClr val="0A1228"/>
          </a:solidFill>
          <a:ln w="5080">
            <a:solidFill>
              <a:srgbClr val="22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88620" y="5193792"/>
            <a:ext cx="3547871" cy="219456"/>
          </a:xfrm>
          <a:prstGeom prst="rect">
            <a:avLst/>
          </a:prstGeom>
          <a:solidFill>
            <a:srgbClr val="1C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98347" y="5212079"/>
            <a:ext cx="7315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0">
                <a:solidFill>
                  <a:srgbClr val="9AA2B4"/>
                </a:solidFill>
                <a:latin typeface="Courier New"/>
              </a:rPr>
              <a:t>Java</a:t>
            </a:r>
          </a:p>
        </p:txBody>
      </p:sp>
      <p:sp>
        <p:nvSpPr>
          <p:cNvPr id="68" name="Oval 67"/>
          <p:cNvSpPr/>
          <p:nvPr/>
        </p:nvSpPr>
        <p:spPr>
          <a:xfrm>
            <a:off x="3461003" y="5244083"/>
            <a:ext cx="100584" cy="100584"/>
          </a:xfrm>
          <a:prstGeom prst="ellipse">
            <a:avLst/>
          </a:prstGeom>
          <a:solidFill>
            <a:srgbClr val="E8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616451" y="5244083"/>
            <a:ext cx="100584" cy="100584"/>
          </a:xfrm>
          <a:prstGeom prst="ellipse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771900" y="5244083"/>
            <a:ext cx="100584" cy="100584"/>
          </a:xfrm>
          <a:prstGeom prst="ellipse">
            <a:avLst/>
          </a:prstGeom>
          <a:solidFill>
            <a:srgbClr val="3AB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98347" y="5422392"/>
            <a:ext cx="3383279" cy="34061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E86E5A"/>
                </a:solidFill>
                <a:latin typeface="Courier New"/>
              </a:rPr>
              <a:t>if (floor&lt;0 || floor&gt;10){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8347" y="5726429"/>
            <a:ext cx="3383279" cy="34061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F0C674"/>
                </a:solidFill>
                <a:latin typeface="Courier New"/>
              </a:rPr>
              <a:t>  print("Invalid: "+f);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8347" y="6030468"/>
            <a:ext cx="3383279" cy="34061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E86E5A"/>
                </a:solidFill>
                <a:latin typeface="Courier New"/>
              </a:rPr>
              <a:t>  return;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8347" y="6334506"/>
            <a:ext cx="3383279" cy="34061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9AA2B4"/>
                </a:solidFill>
                <a:latin typeface="Courier New"/>
              </a:rPr>
              <a:t>}  // session continues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0" y="3931920"/>
            <a:ext cx="3749039" cy="2807208"/>
          </a:xfrm>
          <a:prstGeom prst="rect">
            <a:avLst/>
          </a:prstGeom>
          <a:solidFill>
            <a:srgbClr val="1A2E5A"/>
          </a:solidFill>
          <a:ln w="6350">
            <a:solidFill>
              <a:srgbClr val="22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114800" y="3931920"/>
            <a:ext cx="64008" cy="2807208"/>
          </a:xfrm>
          <a:prstGeom prst="rect">
            <a:avLst/>
          </a:prstGeom>
          <a:solidFill>
            <a:srgbClr val="C5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114800" y="3931920"/>
            <a:ext cx="3749039" cy="64008"/>
          </a:xfrm>
          <a:prstGeom prst="rect">
            <a:avLst/>
          </a:prstGeom>
          <a:solidFill>
            <a:srgbClr val="C5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242816" y="4023359"/>
            <a:ext cx="1371600" cy="219456"/>
          </a:xfrm>
          <a:prstGeom prst="rect">
            <a:avLst/>
          </a:prstGeom>
          <a:solidFill>
            <a:srgbClr val="2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270248" y="4032504"/>
            <a:ext cx="1316736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1" i="0">
                <a:solidFill>
                  <a:srgbClr val="C5A5FF"/>
                </a:solidFill>
                <a:latin typeface="Trebuchet MS"/>
              </a:rPr>
              <a:t>LinkedList Queue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42816" y="4279392"/>
            <a:ext cx="3547871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Collections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42816" y="4617720"/>
            <a:ext cx="3547871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8A96AA"/>
                </a:solidFill>
                <a:latin typeface="Trebuchet MS"/>
              </a:rPr>
              <a:t>FIFO queue stores all requests upfront. Swap to PriorityQueue for SCAN scheduling with no other code changes.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242816" y="5193792"/>
            <a:ext cx="3547871" cy="1453896"/>
          </a:xfrm>
          <a:prstGeom prst="rect">
            <a:avLst/>
          </a:prstGeom>
          <a:solidFill>
            <a:srgbClr val="0A1228"/>
          </a:solidFill>
          <a:ln w="5080">
            <a:solidFill>
              <a:srgbClr val="22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242816" y="5193792"/>
            <a:ext cx="3547871" cy="219456"/>
          </a:xfrm>
          <a:prstGeom prst="rect">
            <a:avLst/>
          </a:prstGeom>
          <a:solidFill>
            <a:srgbClr val="1C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352544" y="5212079"/>
            <a:ext cx="7315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0">
                <a:solidFill>
                  <a:srgbClr val="9AA2B4"/>
                </a:solidFill>
                <a:latin typeface="Courier New"/>
              </a:rPr>
              <a:t>Java</a:t>
            </a:r>
          </a:p>
        </p:txBody>
      </p:sp>
      <p:sp>
        <p:nvSpPr>
          <p:cNvPr id="85" name="Oval 84"/>
          <p:cNvSpPr/>
          <p:nvPr/>
        </p:nvSpPr>
        <p:spPr>
          <a:xfrm>
            <a:off x="7315200" y="5244083"/>
            <a:ext cx="100584" cy="100584"/>
          </a:xfrm>
          <a:prstGeom prst="ellipse">
            <a:avLst/>
          </a:prstGeom>
          <a:solidFill>
            <a:srgbClr val="E8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470648" y="5244083"/>
            <a:ext cx="100584" cy="100584"/>
          </a:xfrm>
          <a:prstGeom prst="ellipse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626096" y="5244083"/>
            <a:ext cx="100584" cy="100584"/>
          </a:xfrm>
          <a:prstGeom prst="ellipse">
            <a:avLst/>
          </a:prstGeom>
          <a:solidFill>
            <a:srgbClr val="3AB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352544" y="5422392"/>
            <a:ext cx="3383279" cy="34061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urier New"/>
              </a:rPr>
              <a:t>Queue&lt;Integer&gt; q =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52544" y="5726429"/>
            <a:ext cx="3383279" cy="34061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79C0FF"/>
                </a:solidFill>
                <a:latin typeface="Courier New"/>
              </a:rPr>
              <a:t>  new LinkedList&lt;&gt;();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52544" y="6030468"/>
            <a:ext cx="3383279" cy="34061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6EDDAE"/>
                </a:solidFill>
                <a:latin typeface="Courier New"/>
              </a:rPr>
              <a:t>q.add(floor);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52544" y="6334506"/>
            <a:ext cx="3383279" cy="34061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F0C674"/>
                </a:solidFill>
                <a:latin typeface="Courier New"/>
              </a:rPr>
              <a:t>int f = q.poll();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968996" y="3931920"/>
            <a:ext cx="3749039" cy="2807208"/>
          </a:xfrm>
          <a:prstGeom prst="rect">
            <a:avLst/>
          </a:prstGeom>
          <a:solidFill>
            <a:srgbClr val="1A2E5A"/>
          </a:solidFill>
          <a:ln w="6350">
            <a:solidFill>
              <a:srgbClr val="22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968996" y="3931920"/>
            <a:ext cx="64008" cy="2807208"/>
          </a:xfrm>
          <a:prstGeom prst="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968996" y="3931920"/>
            <a:ext cx="3749039" cy="64008"/>
          </a:xfrm>
          <a:prstGeom prst="rect">
            <a:avLst/>
          </a:prstGeom>
          <a:solidFill>
            <a:srgbClr val="F5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097012" y="4023359"/>
            <a:ext cx="1371600" cy="219456"/>
          </a:xfrm>
          <a:prstGeom prst="rect">
            <a:avLst/>
          </a:prstGeom>
          <a:solidFill>
            <a:srgbClr val="2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124444" y="4032504"/>
            <a:ext cx="1316736" cy="20116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1" i="0">
                <a:solidFill>
                  <a:srgbClr val="F5E6C8"/>
                </a:solidFill>
                <a:latin typeface="Trebuchet MS"/>
              </a:rPr>
              <a:t>Design Pattern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097012" y="4279392"/>
            <a:ext cx="3547871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mbria"/>
              </a:rPr>
              <a:t>State Pattern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097012" y="4617720"/>
            <a:ext cx="3547871" cy="5486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8A96AA"/>
                </a:solidFill>
                <a:latin typeface="Trebuchet MS"/>
              </a:rPr>
              <a:t>Each phase (Idle/Up/Down) is a dedicated class. Adding EmergencyState needs only one new class — zero edits.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097012" y="5193792"/>
            <a:ext cx="3547871" cy="1453896"/>
          </a:xfrm>
          <a:prstGeom prst="rect">
            <a:avLst/>
          </a:prstGeom>
          <a:solidFill>
            <a:srgbClr val="0A1228"/>
          </a:solidFill>
          <a:ln w="5080">
            <a:solidFill>
              <a:srgbClr val="22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097012" y="5193792"/>
            <a:ext cx="3547871" cy="219456"/>
          </a:xfrm>
          <a:prstGeom prst="rect">
            <a:avLst/>
          </a:prstGeom>
          <a:solidFill>
            <a:srgbClr val="1C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206740" y="5212079"/>
            <a:ext cx="7315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0">
                <a:solidFill>
                  <a:srgbClr val="9AA2B4"/>
                </a:solidFill>
                <a:latin typeface="Courier New"/>
              </a:rPr>
              <a:t>Java</a:t>
            </a:r>
          </a:p>
        </p:txBody>
      </p:sp>
      <p:sp>
        <p:nvSpPr>
          <p:cNvPr id="102" name="Oval 101"/>
          <p:cNvSpPr/>
          <p:nvPr/>
        </p:nvSpPr>
        <p:spPr>
          <a:xfrm>
            <a:off x="11169396" y="5244083"/>
            <a:ext cx="100584" cy="100584"/>
          </a:xfrm>
          <a:prstGeom prst="ellipse">
            <a:avLst/>
          </a:prstGeom>
          <a:solidFill>
            <a:srgbClr val="E8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324844" y="5244083"/>
            <a:ext cx="100584" cy="100584"/>
          </a:xfrm>
          <a:prstGeom prst="ellipse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1480292" y="5244083"/>
            <a:ext cx="100584" cy="100584"/>
          </a:xfrm>
          <a:prstGeom prst="ellipse">
            <a:avLst/>
          </a:prstGeom>
          <a:solidFill>
            <a:srgbClr val="3AB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206740" y="5422392"/>
            <a:ext cx="3383279" cy="34061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9AA2B4"/>
                </a:solidFill>
                <a:latin typeface="Courier New"/>
              </a:rPr>
              <a:t>// Open/Closed Principle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06740" y="5726429"/>
            <a:ext cx="3383279" cy="34061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79C0FF"/>
                </a:solidFill>
                <a:latin typeface="Courier New"/>
              </a:rPr>
              <a:t>class EmergencyState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206740" y="6030468"/>
            <a:ext cx="3383279" cy="34061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6EDDAE"/>
                </a:solidFill>
                <a:latin typeface="Courier New"/>
              </a:rPr>
              <a:t>    implements State {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06740" y="6334506"/>
            <a:ext cx="3383279" cy="340614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9AA2B4"/>
                </a:solidFill>
                <a:latin typeface="Courier New"/>
              </a:rPr>
              <a:t>  // plug-in, no edits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685800" cy="7498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D4A84A"/>
                </a:solidFill>
                <a:latin typeface="Cambria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0584"/>
            <a:ext cx="8229600" cy="47548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Technical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76072"/>
            <a:ext cx="1005840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1">
                <a:solidFill>
                  <a:srgbClr val="F5E6C8"/>
                </a:solidFill>
                <a:latin typeface="Trebuchet MS"/>
              </a:rPr>
              <a:t>Three core design decisions — what, how, and why they make the system production-grade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3" y="1033271"/>
            <a:ext cx="3749039" cy="4389120"/>
          </a:xfrm>
          <a:prstGeom prst="rect">
            <a:avLst/>
          </a:prstGeom>
          <a:solidFill>
            <a:srgbClr val="FFFFFF"/>
          </a:solidFill>
          <a:ln w="7620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0603" y="1033271"/>
            <a:ext cx="3749039" cy="91440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97763" y="1161288"/>
            <a:ext cx="530352" cy="530352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3" y="1161288"/>
            <a:ext cx="530352" cy="53035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2000" b="1" i="0">
                <a:solidFill>
                  <a:srgbClr val="0F1C3A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" y="1161288"/>
            <a:ext cx="2852927" cy="53035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0F1C3A"/>
                </a:solidFill>
                <a:latin typeface="Trebuchet MS"/>
              </a:rPr>
              <a:t>Queue-Based Request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" y="1709928"/>
            <a:ext cx="3529583" cy="8229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2C354A"/>
                </a:solidFill>
                <a:latin typeface="Trebuchet MS"/>
              </a:rPr>
              <a:t>LinkedList Queue stores all floor inputs upfront. poll() re-evaluates direction after every dequeue, so mixed sequences like [3→7→2] are handled correctly without extra code.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" y="2569463"/>
            <a:ext cx="3529583" cy="1737360"/>
          </a:xfrm>
          <a:prstGeom prst="rect">
            <a:avLst/>
          </a:prstGeom>
          <a:solidFill>
            <a:srgbClr val="0A1228"/>
          </a:solidFill>
          <a:ln w="5080">
            <a:solidFill>
              <a:srgbClr val="22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763" y="2569463"/>
            <a:ext cx="3529583" cy="219456"/>
          </a:xfrm>
          <a:prstGeom prst="rect">
            <a:avLst/>
          </a:prstGeom>
          <a:solidFill>
            <a:srgbClr val="1C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1" y="2587751"/>
            <a:ext cx="7315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0">
                <a:solidFill>
                  <a:srgbClr val="9AA2B4"/>
                </a:solidFill>
                <a:latin typeface="Courier New"/>
              </a:rPr>
              <a:t>Java</a:t>
            </a:r>
          </a:p>
        </p:txBody>
      </p:sp>
      <p:sp>
        <p:nvSpPr>
          <p:cNvPr id="16" name="Oval 15"/>
          <p:cNvSpPr/>
          <p:nvPr/>
        </p:nvSpPr>
        <p:spPr>
          <a:xfrm>
            <a:off x="3451859" y="2619756"/>
            <a:ext cx="100584" cy="100584"/>
          </a:xfrm>
          <a:prstGeom prst="ellipse">
            <a:avLst/>
          </a:prstGeom>
          <a:solidFill>
            <a:srgbClr val="E8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07307" y="2619756"/>
            <a:ext cx="100584" cy="100584"/>
          </a:xfrm>
          <a:prstGeom prst="ellipse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62755" y="2619756"/>
            <a:ext cx="100584" cy="100584"/>
          </a:xfrm>
          <a:prstGeom prst="ellipse">
            <a:avLst/>
          </a:prstGeom>
          <a:solidFill>
            <a:srgbClr val="3AB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1" y="2798063"/>
            <a:ext cx="3364991" cy="336499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79C0FF"/>
                </a:solidFill>
                <a:latin typeface="Courier New"/>
              </a:rPr>
              <a:t>Queue&lt;Integer&gt; q = new LinkedList&lt;&gt;();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1" y="3097987"/>
            <a:ext cx="3364991" cy="336499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6EDDAE"/>
                </a:solidFill>
                <a:latin typeface="Courier New"/>
              </a:rPr>
              <a:t>q.add(floor);  // enqueue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1" y="3397910"/>
            <a:ext cx="3364991" cy="336499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F0C674"/>
                </a:solidFill>
                <a:latin typeface="Courier New"/>
              </a:rPr>
              <a:t>int f = q.poll();  // dequeue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1" y="3697833"/>
            <a:ext cx="3364991" cy="336499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urier New"/>
              </a:rPr>
              <a:t>if (f &gt; e.getFloor())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1" y="3997756"/>
            <a:ext cx="3364991" cy="336499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6EDDAE"/>
                </a:solidFill>
                <a:latin typeface="Courier New"/>
              </a:rPr>
              <a:t>  state = new MovingUpState();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3" y="4343400"/>
            <a:ext cx="3749039" cy="18288"/>
          </a:xfrm>
          <a:prstGeom prst="rect">
            <a:avLst/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7763" y="4379976"/>
            <a:ext cx="45720" cy="914400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7" y="4379976"/>
            <a:ext cx="3428999" cy="21945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1" i="0">
                <a:solidFill>
                  <a:srgbClr val="D4A84A"/>
                </a:solidFill>
                <a:latin typeface="Trebuchet MS"/>
              </a:rPr>
              <a:t>WHY THIS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7" y="4617720"/>
            <a:ext cx="3428999" cy="6949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1">
                <a:solidFill>
                  <a:srgbClr val="2C354A"/>
                </a:solidFill>
                <a:latin typeface="Trebuchet MS"/>
              </a:rPr>
              <a:t>Decouples input from processing. Upgrade to PriorityQueue for SCAN scheduling instantly with zero other changes.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1033271"/>
            <a:ext cx="3749039" cy="4389120"/>
          </a:xfrm>
          <a:prstGeom prst="rect">
            <a:avLst/>
          </a:prstGeom>
          <a:solidFill>
            <a:srgbClr val="FFFFFF"/>
          </a:solidFill>
          <a:ln w="7620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0" y="1033271"/>
            <a:ext cx="3749039" cy="91440"/>
          </a:xfrm>
          <a:prstGeom prst="rect">
            <a:avLst/>
          </a:prstGeom>
          <a:solidFill>
            <a:srgbClr val="3AB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60" y="1161288"/>
            <a:ext cx="530352" cy="530352"/>
          </a:xfrm>
          <a:prstGeom prst="rect">
            <a:avLst/>
          </a:prstGeom>
          <a:solidFill>
            <a:srgbClr val="3AB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60" y="1161288"/>
            <a:ext cx="530352" cy="53035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2000" b="1" i="0">
                <a:solidFill>
                  <a:srgbClr val="0F1C3A"/>
                </a:solidFill>
                <a:latin typeface="Cambria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1161288"/>
            <a:ext cx="2852927" cy="53035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0F1C3A"/>
                </a:solidFill>
                <a:latin typeface="Trebuchet MS"/>
              </a:rPr>
              <a:t>Step-by-Step Floor Traversal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1709928"/>
            <a:ext cx="3529583" cy="8229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2C354A"/>
                </a:solidFill>
                <a:latin typeface="Trebuchet MS"/>
              </a:rPr>
              <a:t>Both moving states use a while loop — one floor at a time. currentFloor stays accurate between requests, producing a clear traceable log that mirrors real elevator travel.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2569463"/>
            <a:ext cx="3529583" cy="1737360"/>
          </a:xfrm>
          <a:prstGeom prst="rect">
            <a:avLst/>
          </a:prstGeom>
          <a:solidFill>
            <a:srgbClr val="0A1228"/>
          </a:solidFill>
          <a:ln w="5080">
            <a:solidFill>
              <a:srgbClr val="22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51960" y="2569463"/>
            <a:ext cx="3529583" cy="219456"/>
          </a:xfrm>
          <a:prstGeom prst="rect">
            <a:avLst/>
          </a:prstGeom>
          <a:solidFill>
            <a:srgbClr val="1C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61688" y="2587751"/>
            <a:ext cx="7315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0">
                <a:solidFill>
                  <a:srgbClr val="9AA2B4"/>
                </a:solidFill>
                <a:latin typeface="Courier New"/>
              </a:rPr>
              <a:t>Java</a:t>
            </a:r>
          </a:p>
        </p:txBody>
      </p:sp>
      <p:sp>
        <p:nvSpPr>
          <p:cNvPr id="37" name="Oval 36"/>
          <p:cNvSpPr/>
          <p:nvPr/>
        </p:nvSpPr>
        <p:spPr>
          <a:xfrm>
            <a:off x="7306056" y="2619756"/>
            <a:ext cx="100584" cy="100584"/>
          </a:xfrm>
          <a:prstGeom prst="ellipse">
            <a:avLst/>
          </a:prstGeom>
          <a:solidFill>
            <a:srgbClr val="E8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461504" y="2619756"/>
            <a:ext cx="100584" cy="100584"/>
          </a:xfrm>
          <a:prstGeom prst="ellipse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616952" y="2619756"/>
            <a:ext cx="100584" cy="100584"/>
          </a:xfrm>
          <a:prstGeom prst="ellipse">
            <a:avLst/>
          </a:prstGeom>
          <a:solidFill>
            <a:srgbClr val="3AB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61688" y="2798063"/>
            <a:ext cx="3364991" cy="336499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urier New"/>
              </a:rPr>
              <a:t>while (e.getFloor() &lt; floor) {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61688" y="3097987"/>
            <a:ext cx="3364991" cy="336499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79C0FF"/>
                </a:solidFill>
                <a:latin typeface="Courier New"/>
              </a:rPr>
              <a:t>  int next = e.getFloor() + 1;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61688" y="3397910"/>
            <a:ext cx="3364991" cy="336499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F0C674"/>
                </a:solidFill>
                <a:latin typeface="Courier New"/>
              </a:rPr>
              <a:t>  e.moveToFloor(next);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61688" y="3697833"/>
            <a:ext cx="3364991" cy="336499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61688" y="3997756"/>
            <a:ext cx="3364991" cy="336499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6EDDAE"/>
                </a:solidFill>
                <a:latin typeface="Courier New"/>
              </a:rPr>
              <a:t>System.out.println("Door Opening...");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4343400"/>
            <a:ext cx="3749039" cy="18288"/>
          </a:xfrm>
          <a:prstGeom prst="rect">
            <a:avLst/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51960" y="4379976"/>
            <a:ext cx="45720" cy="914400"/>
          </a:xfrm>
          <a:prstGeom prst="rect">
            <a:avLst/>
          </a:prstGeom>
          <a:solidFill>
            <a:srgbClr val="3AB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52544" y="4379976"/>
            <a:ext cx="3428999" cy="21945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1" i="0">
                <a:solidFill>
                  <a:srgbClr val="3AB89E"/>
                </a:solidFill>
                <a:latin typeface="Trebuchet MS"/>
              </a:rPr>
              <a:t>WHY THIS DECISION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52544" y="4617720"/>
            <a:ext cx="3428999" cy="6949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1">
                <a:solidFill>
                  <a:srgbClr val="2C354A"/>
                </a:solidFill>
                <a:latin typeface="Trebuchet MS"/>
              </a:rPr>
              <a:t>Ensures correctness across multi-request sessions — every subsequent request builds on the real current position.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68996" y="1033271"/>
            <a:ext cx="3749039" cy="4389120"/>
          </a:xfrm>
          <a:prstGeom prst="rect">
            <a:avLst/>
          </a:prstGeom>
          <a:solidFill>
            <a:srgbClr val="FFFFFF"/>
          </a:solidFill>
          <a:ln w="7620">
            <a:solidFill>
              <a:srgbClr val="E8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968996" y="1033271"/>
            <a:ext cx="3749039" cy="91440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06156" y="1161288"/>
            <a:ext cx="530352" cy="530352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06156" y="1161288"/>
            <a:ext cx="530352" cy="53035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2000" b="1" i="0">
                <a:solidFill>
                  <a:srgbClr val="0F1C3A"/>
                </a:solidFill>
                <a:latin typeface="Cambria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46236" y="1161288"/>
            <a:ext cx="2852927" cy="53035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0F1C3A"/>
                </a:solidFill>
                <a:latin typeface="Trebuchet MS"/>
              </a:rPr>
              <a:t>Per-Request State Re-evaluation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06156" y="1709928"/>
            <a:ext cx="3529583" cy="8229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0">
                <a:solidFill>
                  <a:srgbClr val="2C354A"/>
                </a:solidFill>
                <a:latin typeface="Trebuchet MS"/>
              </a:rPr>
              <a:t>The state object is reassigned for every dequeued floor, not once at session start. Three branches dynamically pick the correct state for every individual request.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06156" y="2569463"/>
            <a:ext cx="3529583" cy="1737360"/>
          </a:xfrm>
          <a:prstGeom prst="rect">
            <a:avLst/>
          </a:prstGeom>
          <a:solidFill>
            <a:srgbClr val="0A1228"/>
          </a:solidFill>
          <a:ln w="5080">
            <a:solidFill>
              <a:srgbClr val="22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06156" y="2569463"/>
            <a:ext cx="3529583" cy="219456"/>
          </a:xfrm>
          <a:prstGeom prst="rect">
            <a:avLst/>
          </a:prstGeom>
          <a:solidFill>
            <a:srgbClr val="1C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15883" y="2587751"/>
            <a:ext cx="731520" cy="1828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0" i="0">
                <a:solidFill>
                  <a:srgbClr val="9AA2B4"/>
                </a:solidFill>
                <a:latin typeface="Courier New"/>
              </a:rPr>
              <a:t>Java</a:t>
            </a:r>
          </a:p>
        </p:txBody>
      </p:sp>
      <p:sp>
        <p:nvSpPr>
          <p:cNvPr id="58" name="Oval 57"/>
          <p:cNvSpPr/>
          <p:nvPr/>
        </p:nvSpPr>
        <p:spPr>
          <a:xfrm>
            <a:off x="11160252" y="2619756"/>
            <a:ext cx="100584" cy="100584"/>
          </a:xfrm>
          <a:prstGeom prst="ellipse">
            <a:avLst/>
          </a:prstGeom>
          <a:solidFill>
            <a:srgbClr val="E8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315700" y="2619756"/>
            <a:ext cx="100584" cy="100584"/>
          </a:xfrm>
          <a:prstGeom prst="ellipse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471148" y="2619756"/>
            <a:ext cx="100584" cy="100584"/>
          </a:xfrm>
          <a:prstGeom prst="ellipse">
            <a:avLst/>
          </a:prstGeom>
          <a:solidFill>
            <a:srgbClr val="3AB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15883" y="2798063"/>
            <a:ext cx="3364991" cy="336499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6EDDAE"/>
                </a:solidFill>
                <a:latin typeface="Courier New"/>
              </a:rPr>
              <a:t>if (f &gt; e.getCurrentFloor())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15883" y="3097987"/>
            <a:ext cx="3364991" cy="336499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F0C674"/>
                </a:solidFill>
                <a:latin typeface="Courier New"/>
              </a:rPr>
              <a:t>  state = new MovingUpState();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15883" y="3397910"/>
            <a:ext cx="3364991" cy="336499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6EDDAE"/>
                </a:solidFill>
                <a:latin typeface="Courier New"/>
              </a:rPr>
              <a:t>else if (f &lt; e.getCurrentFloor())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15883" y="3697833"/>
            <a:ext cx="3364991" cy="336499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F0C674"/>
                </a:solidFill>
                <a:latin typeface="Courier New"/>
              </a:rPr>
              <a:t>  state = new MovingDownState();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15883" y="3997756"/>
            <a:ext cx="3364991" cy="336499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00" b="0" i="0">
                <a:solidFill>
                  <a:srgbClr val="79C0FF"/>
                </a:solidFill>
                <a:latin typeface="Courier New"/>
              </a:rPr>
              <a:t>else state = new IdleState();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968996" y="4343400"/>
            <a:ext cx="3749039" cy="18288"/>
          </a:xfrm>
          <a:prstGeom prst="rect">
            <a:avLst/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106156" y="4379976"/>
            <a:ext cx="45720" cy="914400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06740" y="4379976"/>
            <a:ext cx="3428999" cy="21945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750" b="1" i="0">
                <a:solidFill>
                  <a:srgbClr val="79C0FF"/>
                </a:solidFill>
                <a:latin typeface="Trebuchet MS"/>
              </a:rPr>
              <a:t>WHY THIS DECISION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06740" y="4617720"/>
            <a:ext cx="3428999" cy="694944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00" b="0" i="1">
                <a:solidFill>
                  <a:srgbClr val="2C354A"/>
                </a:solidFill>
                <a:latin typeface="Trebuchet MS"/>
              </a:rPr>
              <a:t>Handles direction reversals automatically — no additional direction flags or special-case logic needed anywhere.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5458968"/>
            <a:ext cx="12188952" cy="82296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5559552"/>
            <a:ext cx="11247120" cy="62179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100" b="0" i="1">
                <a:solidFill>
                  <a:srgbClr val="F5E6C8"/>
                </a:solidFill>
                <a:latin typeface="Trebuchet MS"/>
              </a:rPr>
              <a:t>💡  Queue decouples input  ·  Step traversal ensures correctness  ·  Re-evaluation handles reversals — three decisions that make this production-grade.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685800" cy="7498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D4A84A"/>
                </a:solidFill>
                <a:latin typeface="Cambria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0584"/>
            <a:ext cx="8229600" cy="47548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mbria"/>
              </a:rP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76072"/>
            <a:ext cx="10058400" cy="310896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00" b="0" i="1">
                <a:solidFill>
                  <a:srgbClr val="F5E6C8"/>
                </a:solidFill>
                <a:latin typeface="Trebuchet MS"/>
              </a:rPr>
              <a:t>Happy path  ·  Direction reversal  ·  Idle case  ·  Error rejection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078992"/>
            <a:ext cx="5120640" cy="5440680"/>
          </a:xfrm>
          <a:prstGeom prst="rect">
            <a:avLst/>
          </a:prstGeom>
          <a:solidFill>
            <a:srgbClr val="1A2E5A"/>
          </a:solidFill>
          <a:ln w="6350">
            <a:solidFill>
              <a:srgbClr val="22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170432"/>
            <a:ext cx="4754880" cy="38404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100" b="1" i="0">
                <a:solidFill>
                  <a:srgbClr val="D4A84A"/>
                </a:solidFill>
                <a:latin typeface="Cambria"/>
              </a:rPr>
              <a:t>Demo Scenario  —  5 requests from Floor 0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1764792"/>
            <a:ext cx="329184" cy="329184"/>
          </a:xfrm>
          <a:prstGeom prst="ellipse">
            <a:avLst/>
          </a:prstGeom>
          <a:solidFill>
            <a:srgbClr val="3AB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783080"/>
            <a:ext cx="329184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0F1C3A"/>
                </a:solidFill>
                <a:latin typeface="Trebuchet M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46504"/>
            <a:ext cx="429768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Trebuchet MS"/>
              </a:rPr>
              <a:t>Request  Floor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39112"/>
            <a:ext cx="429768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1">
                <a:solidFill>
                  <a:srgbClr val="9AA2B4"/>
                </a:solidFill>
                <a:latin typeface="Trebuchet MS"/>
              </a:rPr>
              <a:t>MovingUpState   →   0 ▸ 1 ▸ 2 ▸ 3 ▸ 4 ▸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86584"/>
            <a:ext cx="54864" cy="219456"/>
          </a:xfrm>
          <a:prstGeom prst="rect">
            <a:avLst/>
          </a:prstGeom>
          <a:solidFill>
            <a:srgbClr val="2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1480" y="2679192"/>
            <a:ext cx="329184" cy="329184"/>
          </a:xfrm>
          <a:prstGeom prst="ellipse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697480"/>
            <a:ext cx="329184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0F1C3A"/>
                </a:solidFill>
                <a:latin typeface="Trebuchet M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660904"/>
            <a:ext cx="429768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Trebuchet MS"/>
              </a:rPr>
              <a:t>Request  Floor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953512"/>
            <a:ext cx="429768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1">
                <a:solidFill>
                  <a:srgbClr val="9AA2B4"/>
                </a:solidFill>
                <a:latin typeface="Trebuchet MS"/>
              </a:rPr>
              <a:t>MovingDownState →   5 ▸ 4 ▸ 3 ▸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00984"/>
            <a:ext cx="54864" cy="219456"/>
          </a:xfrm>
          <a:prstGeom prst="rect">
            <a:avLst/>
          </a:prstGeom>
          <a:solidFill>
            <a:srgbClr val="2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1480" y="3593592"/>
            <a:ext cx="329184" cy="329184"/>
          </a:xfrm>
          <a:prstGeom prst="ellipse">
            <a:avLst/>
          </a:prstGeom>
          <a:solidFill>
            <a:srgbClr val="3AB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611880"/>
            <a:ext cx="329184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0F1C3A"/>
                </a:solidFill>
                <a:latin typeface="Trebuchet M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575304"/>
            <a:ext cx="429768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Trebuchet MS"/>
              </a:rPr>
              <a:t>Request  Floor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867912"/>
            <a:ext cx="429768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1">
                <a:solidFill>
                  <a:srgbClr val="9AA2B4"/>
                </a:solidFill>
                <a:latin typeface="Trebuchet MS"/>
              </a:rPr>
              <a:t>MovingUpState   →   2 ▸ 3 ▸ 4 ▸ 5 ▸ 6 ▸ 7 ▸ 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15384"/>
            <a:ext cx="54864" cy="219456"/>
          </a:xfrm>
          <a:prstGeom prst="rect">
            <a:avLst/>
          </a:prstGeom>
          <a:solidFill>
            <a:srgbClr val="2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1480" y="4507992"/>
            <a:ext cx="329184" cy="329184"/>
          </a:xfrm>
          <a:prstGeom prst="ellipse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526279"/>
            <a:ext cx="329184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0F1C3A"/>
                </a:solidFill>
                <a:latin typeface="Trebuchet M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489703"/>
            <a:ext cx="429768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Trebuchet MS"/>
              </a:rPr>
              <a:t>Request  Floor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782312"/>
            <a:ext cx="429768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1">
                <a:solidFill>
                  <a:srgbClr val="9AA2B4"/>
                </a:solidFill>
                <a:latin typeface="Trebuchet MS"/>
              </a:rPr>
              <a:t>IdleState       →   Already at floor 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29783"/>
            <a:ext cx="54864" cy="219456"/>
          </a:xfrm>
          <a:prstGeom prst="rect">
            <a:avLst/>
          </a:prstGeom>
          <a:solidFill>
            <a:srgbClr val="22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1480" y="5422392"/>
            <a:ext cx="329184" cy="329184"/>
          </a:xfrm>
          <a:prstGeom prst="ellipse">
            <a:avLst/>
          </a:prstGeom>
          <a:solidFill>
            <a:srgbClr val="E8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440679"/>
            <a:ext cx="329184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1000" b="1" i="0">
                <a:solidFill>
                  <a:srgbClr val="0F1C3A"/>
                </a:solidFill>
                <a:latin typeface="Trebuchet M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404103"/>
            <a:ext cx="429768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Trebuchet MS"/>
              </a:rPr>
              <a:t>Request  Floor 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696712"/>
            <a:ext cx="4297680" cy="27432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950" b="0" i="1">
                <a:solidFill>
                  <a:srgbClr val="E86E5A"/>
                </a:solidFill>
                <a:latin typeface="Trebuchet MS"/>
              </a:rPr>
              <a:t>REJECTED        —   Invalid floor: 11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23560" y="1078992"/>
            <a:ext cx="6291072" cy="5440680"/>
          </a:xfrm>
          <a:prstGeom prst="rect">
            <a:avLst/>
          </a:prstGeom>
          <a:solidFill>
            <a:srgbClr val="0A1228"/>
          </a:solidFill>
          <a:ln w="7620">
            <a:solidFill>
              <a:srgbClr val="22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23560" y="1078992"/>
            <a:ext cx="6291072" cy="329184"/>
          </a:xfrm>
          <a:prstGeom prst="rect">
            <a:avLst/>
          </a:prstGeom>
          <a:solidFill>
            <a:srgbClr val="1C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42432" y="1161288"/>
            <a:ext cx="137160" cy="137160"/>
          </a:xfrm>
          <a:prstGeom prst="ellipse">
            <a:avLst/>
          </a:prstGeom>
          <a:solidFill>
            <a:srgbClr val="E86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998464" y="1161288"/>
            <a:ext cx="137160" cy="137160"/>
          </a:xfrm>
          <a:prstGeom prst="ellipse">
            <a:avLst/>
          </a:prstGeom>
          <a:solidFill>
            <a:srgbClr val="D4A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4496" y="1161288"/>
            <a:ext cx="137160" cy="137160"/>
          </a:xfrm>
          <a:prstGeom prst="ellipse">
            <a:avLst/>
          </a:prstGeom>
          <a:solidFill>
            <a:srgbClr val="3AB8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1115568"/>
            <a:ext cx="5486400" cy="256032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9AA2B4"/>
                </a:solidFill>
                <a:latin typeface="Courier New"/>
              </a:rPr>
              <a:t>ElevatorController  —  console 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1508760"/>
            <a:ext cx="6035040" cy="24688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223A6E"/>
                </a:solidFill>
                <a:latin typeface="Courier New"/>
              </a:rPr>
              <a:t>==============================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0720" y="1751076"/>
            <a:ext cx="6035040" cy="24688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ourier New"/>
              </a:rPr>
              <a:t>Request received for floor: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0" y="1993391"/>
            <a:ext cx="6035040" cy="24688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223A6E"/>
                </a:solidFill>
                <a:latin typeface="Courier New"/>
              </a:rPr>
              <a:t>==============================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0" y="2235708"/>
            <a:ext cx="6035040" cy="24688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3AB89E"/>
                </a:solidFill>
                <a:latin typeface="Courier New"/>
              </a:rPr>
              <a:t>Elevator is Moving Up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2478024"/>
            <a:ext cx="6035040" cy="24688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9AA2B4"/>
                </a:solidFill>
                <a:latin typeface="Courier New"/>
              </a:rPr>
              <a:t>Moving to floor: 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0" y="2720340"/>
            <a:ext cx="6035040" cy="24688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9AA2B4"/>
                </a:solidFill>
                <a:latin typeface="Courier New"/>
              </a:rPr>
              <a:t>Moving to floor: 2  ...  (→ 5)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2962656"/>
            <a:ext cx="6035040" cy="24688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D4A84A"/>
                </a:solidFill>
                <a:latin typeface="Courier New"/>
              </a:rPr>
              <a:t>Reached Floor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0" y="3204972"/>
            <a:ext cx="6035040" cy="24688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F0C674"/>
                </a:solidFill>
                <a:latin typeface="Courier New"/>
              </a:rPr>
              <a:t>Door Opening...  |  Door Closing...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0" y="3447288"/>
            <a:ext cx="6035040" cy="24688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6EDDAE"/>
                </a:solidFill>
                <a:latin typeface="Courier New"/>
              </a:rPr>
              <a:t>Request completed successfully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0720" y="3689604"/>
            <a:ext cx="6035040" cy="24688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0" y="3931920"/>
            <a:ext cx="6035040" cy="24688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ourier New"/>
              </a:rPr>
              <a:t>Request received for floor: 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720" y="4174235"/>
            <a:ext cx="6035040" cy="24688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3AB89E"/>
                </a:solidFill>
                <a:latin typeface="Courier New"/>
              </a:rPr>
              <a:t>Elevator is Moving Up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0" y="4416552"/>
            <a:ext cx="6035040" cy="24688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9AA2B4"/>
                </a:solidFill>
                <a:latin typeface="Courier New"/>
              </a:rPr>
              <a:t>Moving to floor: 3 ... 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0720" y="4658868"/>
            <a:ext cx="6035040" cy="24688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D4A84A"/>
                </a:solidFill>
                <a:latin typeface="Courier New"/>
              </a:rPr>
              <a:t>Reached Floor 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60720" y="4901183"/>
            <a:ext cx="6035040" cy="24688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F0C674"/>
                </a:solidFill>
                <a:latin typeface="Courier New"/>
              </a:rPr>
              <a:t>Door Opening...  |  Door Closing...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0" y="5143500"/>
            <a:ext cx="6035040" cy="24688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0720" y="5385816"/>
            <a:ext cx="6035040" cy="24688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ourier New"/>
              </a:rPr>
              <a:t>Request received for floor: 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60720" y="5628131"/>
            <a:ext cx="6035040" cy="24688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79C0FF"/>
                </a:solidFill>
                <a:latin typeface="Courier New"/>
              </a:rPr>
              <a:t>Elevator is in Idle State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0" y="5870448"/>
            <a:ext cx="6035040" cy="24688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720" y="6112764"/>
            <a:ext cx="6035040" cy="24688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Courier New"/>
              </a:rPr>
              <a:t>Request received for floor: 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60720" y="6355080"/>
            <a:ext cx="6035040" cy="24688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sz="850" b="0" i="0">
                <a:solidFill>
                  <a:srgbClr val="E86E5A"/>
                </a:solidFill>
                <a:latin typeface="Courier New"/>
              </a:rPr>
              <a:t>Invalid floor: 11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2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6510528"/>
            <a:ext cx="112471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/>
            <a:r>
              <a:rPr sz="950" b="0" i="1">
                <a:solidFill>
                  <a:srgbClr val="9AA2B4"/>
                </a:solidFill>
                <a:latin typeface="Trebuchet MS"/>
              </a:rPr>
              <a:t>Silvia Singh · Roll No. 19  |  PCCCS495 – OOP  |  Spring 2026  |  IEM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